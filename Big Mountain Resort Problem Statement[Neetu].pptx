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144000"/>
  <p:notesSz cx="6858000" cy="9144000"/>
  <p:embeddedFontLst>
    <p:embeddedFont>
      <p:font typeface="Quattrocento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FDuhCtW7la+YkjnWMDO4h+fXz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QuattrocentoSans-boldItalic.fntdata"/><Relationship Id="rId9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QuattrocentoSans-regular.fntdata"/><Relationship Id="rId8" Type="http://schemas.openxmlformats.org/officeDocument/2006/relationships/font" Target="fonts/Quattrocento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A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6042320" y="9493393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AU" sz="1800" u="none" cap="none" strike="noStrike">
                <a:solidFill>
                  <a:srgbClr val="000000"/>
                </a:solidFill>
              </a:rPr>
              <a:t>‹#›</a:t>
            </a:fld>
            <a:endParaRPr b="0" i="0"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-2319338" y="1265238"/>
            <a:ext cx="11201401" cy="8401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789535" y="605318"/>
            <a:ext cx="547079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Hypothesis: </a:t>
            </a:r>
            <a:r>
              <a:rPr b="0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b="1" i="1" lang="en-A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1" lang="en-AU" sz="1200"/>
              <a:t>S – Specific, M – Measurable, A – Achievable, R – Realistic, T – Timebound). </a:t>
            </a:r>
            <a:r>
              <a:rPr b="0" i="0" lang="en-AU" sz="1200"/>
              <a:t>If you cannot do this, you </a:t>
            </a:r>
            <a:r>
              <a:rPr b="1" i="0" lang="en-AU" sz="1200"/>
              <a:t>do not</a:t>
            </a:r>
            <a:r>
              <a:rPr b="0" i="0" lang="en-AU" sz="1200"/>
              <a:t> have a good grasp on the business problem.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Context: </a:t>
            </a:r>
            <a:r>
              <a:rPr lang="en-AU" sz="1200"/>
              <a:t>With context, we have </a:t>
            </a:r>
            <a:r>
              <a:rPr b="1" lang="en-AU" sz="1200" u="sng"/>
              <a:t>clearly identified the problem at hand </a:t>
            </a:r>
            <a:r>
              <a:rPr lang="en-AU" sz="1200"/>
              <a:t>and have elucidated on how our initiative may solve this problem, alongside the commercial implications this will have on the business.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Criteria for Success</a:t>
            </a:r>
            <a:r>
              <a:rPr b="0" lang="en-AU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Scope of Solution Space: </a:t>
            </a:r>
            <a:r>
              <a:rPr b="0" lang="en-AU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Constraints within Solution Space: </a:t>
            </a:r>
            <a:r>
              <a:rPr b="0" lang="en-AU"/>
              <a:t>Looking forward, what are the foreseeable problems we are likely to encounter? Could this be stakeholder resistance? Could this be we don’t have access to the right data?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Stakeholders to provide key insight: </a:t>
            </a:r>
            <a:r>
              <a:rPr b="0" lang="en-AU"/>
              <a:t>Who are the people I need to speak to, to get the answers I need for my data analysis?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AU"/>
              <a:t>What key data sources are required</a:t>
            </a:r>
            <a:r>
              <a:rPr b="0" lang="en-AU"/>
              <a:t>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AU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6"/>
              <a:buFont typeface="Arial"/>
              <a:buNone/>
            </a:pPr>
            <a:r>
              <a:t/>
            </a:r>
            <a:endParaRPr b="0" i="0" sz="8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2933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2933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0801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801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0801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0802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0802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b="0" i="0" sz="16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93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137949" y="1576013"/>
            <a:ext cx="4344156" cy="468106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87388" y="1576013"/>
            <a:ext cx="4344156" cy="468106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18936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2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668375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1195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50634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 within solution 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668375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18936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01195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Criteria for success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050634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 to provide key insight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18936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668375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anchorCtr="0" anchor="ctr" bIns="47575" lIns="47575" spcFirstLastPara="1" rIns="47575" wrap="square" tIns="4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01195" y="4831972"/>
            <a:ext cx="3597454" cy="219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solution space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050634" y="482974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b="0" i="0" lang="en-AU" sz="14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data sources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43100" y="1892950"/>
            <a:ext cx="43440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6428"/>
              <a:buFont typeface="Arial"/>
              <a:buNone/>
            </a:pPr>
            <a:r>
              <a:rPr lang="en-AU"/>
              <a:t>Big Mountain Resort, a ski resort features 105 trails, 11 lifts, 2 T-bars, and 1 magic carpet accommodating skiers and riders of all levels and abilities. Recently, the addition of new chair lift added annual operating costs by 1.5M. Management suspects the pricing </a:t>
            </a:r>
            <a:r>
              <a:rPr lang="en-AU"/>
              <a:t>strategy</a:t>
            </a:r>
            <a:r>
              <a:rPr lang="en-AU"/>
              <a:t> of ticket will hamper growth, profit and investment.</a:t>
            </a:r>
            <a:r>
              <a:rPr lang="en-AU"/>
              <a:t> The team wants to implement data driven strategy to either cut costs without undermining ticket price or support higher ticket price.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143108" y="3538874"/>
            <a:ext cx="4324418" cy="1410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71"/>
              <a:t>Development and adoption of data driven pricing model for lift tickets within next operational season.</a:t>
            </a:r>
            <a:endParaRPr sz="10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71"/>
              <a:t>Identification of key amenities and facilities that would increase the customer satisfaction and ticket price</a:t>
            </a:r>
            <a:endParaRPr sz="1071"/>
          </a:p>
        </p:txBody>
      </p:sp>
      <p:sp>
        <p:nvSpPr>
          <p:cNvPr id="36" name="Google Shape;36;p1"/>
          <p:cNvSpPr txBox="1"/>
          <p:nvPr/>
        </p:nvSpPr>
        <p:spPr>
          <a:xfrm>
            <a:off x="186842" y="5184805"/>
            <a:ext cx="4324418" cy="751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71"/>
              <a:t>The data team will conduct analysis using the dataset of 330 US ski resort to benchmark pricing strategies. </a:t>
            </a:r>
            <a:r>
              <a:rPr lang="en-AU" sz="1071"/>
              <a:t>Evaluate</a:t>
            </a:r>
            <a:r>
              <a:rPr lang="en-AU" sz="1071"/>
              <a:t> operational efficiency and cost saving measures related to lift operation and visitor distribution.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4558232" y="1963919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lang="en-AU" sz="1070"/>
              <a:t>Seasonal and weather variations can influence visitation and pricing </a:t>
            </a:r>
            <a:r>
              <a:rPr lang="en-AU" sz="1070"/>
              <a:t>fluctuations. </a:t>
            </a:r>
            <a:endParaRPr sz="107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lang="en-AU" sz="1070"/>
              <a:t>Implementation of dynamic pricing could face resistance from customers accustomed to fixed rates. </a:t>
            </a:r>
            <a:endParaRPr i="0" sz="1070" u="none" cap="none" strike="noStrike">
              <a:solidFill>
                <a:srgbClr val="000000"/>
              </a:solidFill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4590928" y="5085174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lang="en-AU" sz="1070"/>
              <a:t>330 US Ski Resort Data</a:t>
            </a:r>
            <a:endParaRPr sz="107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lang="en-AU" sz="1070"/>
              <a:t>Operational Cost Data</a:t>
            </a:r>
            <a:endParaRPr sz="107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rPr b="1" lang="en-AU" sz="1070"/>
              <a:t> </a:t>
            </a:r>
            <a:endParaRPr b="1" sz="107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None/>
            </a:pPr>
            <a:r>
              <a:t/>
            </a:r>
            <a:endParaRPr b="1" sz="1070"/>
          </a:p>
        </p:txBody>
      </p:sp>
      <p:sp>
        <p:nvSpPr>
          <p:cNvPr id="39" name="Google Shape;39;p1"/>
          <p:cNvSpPr/>
          <p:nvPr/>
        </p:nvSpPr>
        <p:spPr>
          <a:xfrm>
            <a:off x="6633337" y="6524418"/>
            <a:ext cx="432048" cy="205317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028512" y="6513711"/>
            <a:ext cx="432048" cy="216024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7452320" y="6503004"/>
            <a:ext cx="432048" cy="216024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846662" y="6508081"/>
            <a:ext cx="432048" cy="216024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245692" y="6503004"/>
            <a:ext cx="432048" cy="216024"/>
          </a:xfrm>
          <a:prstGeom prst="chevron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099130" y="707128"/>
            <a:ext cx="432048" cy="205317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AU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21750" y="116631"/>
            <a:ext cx="7724912" cy="1137079"/>
          </a:xfrm>
          <a:prstGeom prst="wedgeRectCallout">
            <a:avLst>
              <a:gd fmla="val 53513" name="adj1"/>
              <a:gd fmla="val 6588" name="adj2"/>
            </a:avLst>
          </a:prstGeom>
          <a:solidFill>
            <a:srgbClr val="FEF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/>
          <p:nvPr>
            <p:ph type="title"/>
          </p:nvPr>
        </p:nvSpPr>
        <p:spPr>
          <a:xfrm>
            <a:off x="184140" y="189590"/>
            <a:ext cx="87935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 Mountain Resort </a:t>
            </a: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 (Hypothesis Formation)</a:t>
            </a:r>
            <a:endParaRPr/>
          </a:p>
        </p:txBody>
      </p:sp>
      <p:sp>
        <p:nvSpPr>
          <p:cNvPr id="47" name="Google Shape;47;p1"/>
          <p:cNvSpPr txBox="1"/>
          <p:nvPr/>
        </p:nvSpPr>
        <p:spPr>
          <a:xfrm>
            <a:off x="4607126" y="3547600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71"/>
              <a:t>Jimmy Blackburn (Director of Operations)</a:t>
            </a:r>
            <a:endParaRPr sz="10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71"/>
              <a:t>Alesha Eisen (Database Manager)</a:t>
            </a:r>
            <a:endParaRPr sz="107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1"/>
              <a:buFont typeface="Arial"/>
              <a:buNone/>
            </a:pPr>
            <a:r>
              <a:rPr lang="en-AU" sz="1071"/>
              <a:t>Marketing</a:t>
            </a:r>
            <a:r>
              <a:rPr lang="en-AU" sz="1071"/>
              <a:t> and Pricing team</a:t>
            </a:r>
            <a:endParaRPr sz="1071"/>
          </a:p>
        </p:txBody>
      </p:sp>
      <p:sp>
        <p:nvSpPr>
          <p:cNvPr id="48" name="Google Shape;48;p1"/>
          <p:cNvSpPr txBox="1"/>
          <p:nvPr/>
        </p:nvSpPr>
        <p:spPr>
          <a:xfrm>
            <a:off x="184150" y="497375"/>
            <a:ext cx="856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AU"/>
              <a:t>What </a:t>
            </a:r>
            <a:r>
              <a:rPr b="1" lang="en-AU"/>
              <a:t>opportunities</a:t>
            </a:r>
            <a:r>
              <a:rPr b="1" lang="en-AU"/>
              <a:t> exist for Big Mountain Resort to reduce operating costs by $1.5 million or increase annual revenue through data driven pricing strategy, assets utilization?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H</dc:creator>
</cp:coreProperties>
</file>